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9768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457E6"/>
                </a:solidFill>
                <a:latin typeface="Calibri"/>
              </a:rPr>
              <a:t>TECHBASE STEM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Coding · Robotics · Digital Skills</a:t>
            </a:r>
          </a:p>
          <a:p>
            <a:pPr algn="ctr">
              <a:spcBef>
                <a:spcPts val="500"/>
              </a:spcBef>
            </a:pPr>
            <a:r>
              <a:rPr sz="1200" b="0" i="0">
                <a:solidFill>
                  <a:srgbClr val="475569"/>
                </a:solidFill>
                <a:latin typeface="Calibri"/>
              </a:rPr>
              <a:t>Online &amp; onsite · Nationwide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6858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Calibri"/>
              </a:rPr>
              <a:t>CODING  ·  ROBOTICS  ·  DIGITAL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713232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F1B33"/>
                </a:solidFill>
                <a:latin typeface="Calibri"/>
              </a:rPr>
              <a:t>A Real Head-Start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4600" b="1" i="0">
                <a:solidFill>
                  <a:srgbClr val="0F1B33"/>
                </a:solidFill>
                <a:latin typeface="Calibri"/>
              </a:rPr>
              <a:t>in Tech, for Every 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429000"/>
            <a:ext cx="67665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A hands-on training programme for children and teens (ages 8 to adult), delivered online or onsite, anywhere in Nigeria.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663440"/>
            <a:ext cx="1645920" cy="1051560"/>
          </a:xfrm>
          <a:prstGeom prst="roundRect">
            <a:avLst>
              <a:gd name="adj" fmla="val 10434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800600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2457E6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285232"/>
            <a:ext cx="1645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Courses to choose from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663440"/>
            <a:ext cx="1645920" cy="1051560"/>
          </a:xfrm>
          <a:prstGeom prst="roundRect">
            <a:avLst>
              <a:gd name="adj" fmla="val 10434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800600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2457E6"/>
                </a:solidFill>
                <a:latin typeface="Calibri"/>
              </a:rPr>
              <a:t>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285232"/>
            <a:ext cx="1645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&amp; onsite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663440"/>
            <a:ext cx="1645920" cy="1051560"/>
          </a:xfrm>
          <a:prstGeom prst="roundRect">
            <a:avLst>
              <a:gd name="adj" fmla="val 10434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00600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2457E6"/>
                </a:solidFill>
                <a:latin typeface="Calibri"/>
              </a:rPr>
              <a:t>Anywhere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285232"/>
            <a:ext cx="1645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in Nigeria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4663440"/>
            <a:ext cx="1645920" cy="1051560"/>
          </a:xfrm>
          <a:prstGeom prst="roundRect">
            <a:avLst>
              <a:gd name="adj" fmla="val 10434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4800600"/>
            <a:ext cx="1645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2457E6"/>
                </a:solidFill>
                <a:latin typeface="Calibri"/>
              </a:rPr>
              <a:t>Ages 8+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5285232"/>
            <a:ext cx="1645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to adult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630936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Techbase Consultant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Real Instructors. Real Skills.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76072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Techbase Consultant Services runs a dedicated STEM Academy teaching coding, robotics and digital skills to children and teenagers: live, mentor-led and practical.</a:t>
            </a:r>
          </a:p>
          <a:p>
            <a:pPr algn="l">
              <a:spcBef>
                <a:spcPts val="500"/>
              </a:spcBef>
            </a:pPr>
            <a:r>
              <a:rPr sz="1800" b="0" i="0">
                <a:solidFill>
                  <a:srgbClr val="475569"/>
                </a:solidFill>
                <a:latin typeface="Calibri"/>
              </a:rPr>
              <a:t>We take learners from their very first line of code to real, working projects: a website, a game, or a robot that moves and responds.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52120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2457E6"/>
                </a:solidFill>
                <a:latin typeface="Calibri"/>
              </a:rPr>
              <a:t>“Small groups. Real mentors. Projects your child can actually show off.”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691640"/>
            <a:ext cx="484632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20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2457E6"/>
                </a:solidFill>
                <a:latin typeface="Calibri"/>
              </a:rPr>
              <a:t>472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0175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Free practice lessons and projects online, across 8 Academy courses (techbaseng.github.io)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246120"/>
            <a:ext cx="484632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429000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2457E6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79"/>
            <a:ext cx="30175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Core live training tracks, with 11 courses in the full catalogue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800600"/>
            <a:ext cx="4846320" cy="132588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983480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2457E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937760"/>
            <a:ext cx="301752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Partner schools and organisations we have worked with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WHY TECHBASE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Why Learners Choose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173736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874519"/>
            <a:ext cx="548640" cy="548640"/>
          </a:xfrm>
          <a:prstGeom prst="ellipse">
            <a:avLst/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2457E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25195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Mentor-Led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67712"/>
            <a:ext cx="4251959" cy="1298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Small groups taught live by qualified instructors, never a pre-recorded video dump.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4406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73152" cy="1737360"/>
          </a:xfrm>
          <a:prstGeom prst="rect">
            <a:avLst/>
          </a:prstGeom>
          <a:solidFill>
            <a:srgbClr val="1F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874519"/>
            <a:ext cx="548640" cy="548640"/>
          </a:xfrm>
          <a:prstGeom prst="ellipse">
            <a:avLst/>
          </a:prstGeom>
          <a:solidFill>
            <a:srgbClr val="E1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F7A5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828800"/>
            <a:ext cx="4251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Real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267712"/>
            <a:ext cx="4251960" cy="1298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genuine curriculum from Scratch to Python to Robotics, not a one-off workshop.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73152" cy="17373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114800"/>
            <a:ext cx="548640" cy="548640"/>
          </a:xfrm>
          <a:prstGeom prst="ellipse">
            <a:avLst/>
          </a:prstGeom>
          <a:solidFill>
            <a:srgbClr val="FE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B45309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69080"/>
            <a:ext cx="425195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Delivered Anywhere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7992"/>
            <a:ext cx="4251959" cy="1298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Learn online from anywhere, or onsite at a location of your choice, nationwide.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544068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73152" cy="1737360"/>
          </a:xfrm>
          <a:prstGeom prst="rect">
            <a:avLst/>
          </a:prstGeom>
          <a:solidFill>
            <a:srgbClr val="6D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EEE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6D3FA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4069080"/>
            <a:ext cx="4251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Proven Track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4507992"/>
            <a:ext cx="4251960" cy="1298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Trusted by 9 schools and organisations and by families across Nigeria for hands-on STEM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AGE-BASED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Your Child's 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3716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Learners join the track that fits their age, then progress along the path. Ages follow the makers' own guidance where it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04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78608"/>
            <a:ext cx="10515600" cy="45720"/>
          </a:xfrm>
          <a:prstGeom prst="rect">
            <a:avLst/>
          </a:prstGeom>
          <a:solidFill>
            <a:srgbClr val="D7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304288"/>
            <a:ext cx="594360" cy="59436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8+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1764792" cy="2331720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176479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58191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1B33"/>
                </a:solidFill>
                <a:latin typeface="Calibri"/>
              </a:rPr>
              <a:t>Scratch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158191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B45309"/>
                </a:solidFill>
                <a:latin typeface="Calibri"/>
              </a:rPr>
              <a:t>Ages 8–16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58191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Block-based coding basics</a:t>
            </a:r>
          </a:p>
        </p:txBody>
      </p:sp>
      <p:sp>
        <p:nvSpPr>
          <p:cNvPr id="15" name="Oval 14"/>
          <p:cNvSpPr/>
          <p:nvPr/>
        </p:nvSpPr>
        <p:spPr>
          <a:xfrm>
            <a:off x="2944368" y="2304288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8+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1448" y="3154680"/>
            <a:ext cx="1764792" cy="2331720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41448" y="3154680"/>
            <a:ext cx="176479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3383280"/>
            <a:ext cx="158191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1B33"/>
                </a:solidFill>
                <a:latin typeface="Calibri"/>
              </a:rPr>
              <a:t>Micro:bit Robotics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4069080"/>
            <a:ext cx="158191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F766E"/>
                </a:solidFill>
                <a:latin typeface="Calibri"/>
              </a:rPr>
              <a:t>Ages 8–14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4572000"/>
            <a:ext cx="158191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Code that controls real hardware</a:t>
            </a:r>
          </a:p>
        </p:txBody>
      </p:sp>
      <p:sp>
        <p:nvSpPr>
          <p:cNvPr id="21" name="Oval 20"/>
          <p:cNvSpPr/>
          <p:nvPr/>
        </p:nvSpPr>
        <p:spPr>
          <a:xfrm>
            <a:off x="4837175" y="2304288"/>
            <a:ext cx="594360" cy="594360"/>
          </a:xfrm>
          <a:prstGeom prst="ellipse">
            <a:avLst/>
          </a:prstGeom>
          <a:solidFill>
            <a:srgbClr val="24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10+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5" y="3154680"/>
            <a:ext cx="1764792" cy="2331720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5" y="3154680"/>
            <a:ext cx="1764792" cy="73152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5" y="3383280"/>
            <a:ext cx="158191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1B33"/>
                </a:solidFill>
                <a:latin typeface="Calibri"/>
              </a:rPr>
              <a:t>Web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5" y="4069080"/>
            <a:ext cx="158191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457E6"/>
                </a:solidFill>
                <a:latin typeface="Calibri"/>
              </a:rPr>
              <a:t>Ages 10+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5" y="4572000"/>
            <a:ext cx="158191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HTML, CSS &amp; JavaScript</a:t>
            </a:r>
          </a:p>
        </p:txBody>
      </p:sp>
      <p:sp>
        <p:nvSpPr>
          <p:cNvPr id="27" name="Oval 26"/>
          <p:cNvSpPr/>
          <p:nvPr/>
        </p:nvSpPr>
        <p:spPr>
          <a:xfrm>
            <a:off x="6729983" y="2304288"/>
            <a:ext cx="594360" cy="594360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10+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3" y="3154680"/>
            <a:ext cx="1764792" cy="2331720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3" y="3154680"/>
            <a:ext cx="1764792" cy="73152"/>
          </a:xfrm>
          <a:prstGeom prst="rect">
            <a:avLst/>
          </a:prstGeom>
          <a:solidFill>
            <a:srgbClr val="1F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8503" y="3383280"/>
            <a:ext cx="158191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1B33"/>
                </a:solidFill>
                <a:latin typeface="Calibri"/>
              </a:rPr>
              <a:t>Python Programming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3" y="4069080"/>
            <a:ext cx="158191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7A5C"/>
                </a:solidFill>
                <a:latin typeface="Calibri"/>
              </a:rPr>
              <a:t>Ages 10+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3" y="4572000"/>
            <a:ext cx="158191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Real-world applications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8622792" y="2304288"/>
            <a:ext cx="594360" cy="594360"/>
          </a:xfrm>
          <a:prstGeom prst="ellipse">
            <a:avLst/>
          </a:prstGeom>
          <a:solidFill>
            <a:srgbClr val="6D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10+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3154680"/>
            <a:ext cx="1764792" cy="2331720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19871" y="3154680"/>
            <a:ext cx="1764792" cy="73152"/>
          </a:xfrm>
          <a:prstGeom prst="rect">
            <a:avLst/>
          </a:prstGeom>
          <a:solidFill>
            <a:srgbClr val="6D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1" y="3383280"/>
            <a:ext cx="158191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1B33"/>
                </a:solidFill>
                <a:latin typeface="Calibri"/>
              </a:rPr>
              <a:t>Mobile Apps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1" y="4069080"/>
            <a:ext cx="158191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D3FA8"/>
                </a:solidFill>
                <a:latin typeface="Calibri"/>
              </a:rPr>
              <a:t>Ages 10+ (App Inventor)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1" y="4572000"/>
            <a:ext cx="158191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Android Studio from age 12</a:t>
            </a:r>
          </a:p>
        </p:txBody>
      </p:sp>
      <p:sp>
        <p:nvSpPr>
          <p:cNvPr id="39" name="Oval 38"/>
          <p:cNvSpPr/>
          <p:nvPr/>
        </p:nvSpPr>
        <p:spPr>
          <a:xfrm>
            <a:off x="10515600" y="2304288"/>
            <a:ext cx="594360" cy="594360"/>
          </a:xfrm>
          <a:prstGeom prst="ellipse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13+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12680" y="3154680"/>
            <a:ext cx="1764792" cy="2331720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12680" y="3154680"/>
            <a:ext cx="1764792" cy="73152"/>
          </a:xfrm>
          <a:prstGeom prst="rect">
            <a:avLst/>
          </a:prstGeom>
          <a:solidFill>
            <a:srgbClr val="0F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04119" y="3383280"/>
            <a:ext cx="1581912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F1B33"/>
                </a:solidFill>
                <a:latin typeface="Calibri"/>
              </a:rPr>
              <a:t>Advanced Track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19" y="4069080"/>
            <a:ext cx="158191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F1B33"/>
                </a:solidFill>
                <a:latin typeface="Calibri"/>
              </a:rPr>
              <a:t>Ages 13+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19" y="4572000"/>
            <a:ext cx="1581912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Java · C/C++ · Arduino · AI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4909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788152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F1B33"/>
                </a:solidFill>
                <a:latin typeface="Calibri"/>
              </a:rPr>
              <a:t>Also available at any age: Digital &amp; Productivity Skills (Microsoft Word, Excel &amp; PowerPoint)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CORE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Our Learning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920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83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Scratch 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2219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E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31136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  <a:latin typeface="Calibri"/>
              </a:rPr>
              <a:t>Ages 8–16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4983480" cy="10972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Block-based coding fundamentals: logic, loops, events, games and animation. 35 free practice projects online.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73152" cy="19202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983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Web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22199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231136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2457E6"/>
                </a:solidFill>
                <a:latin typeface="Calibri"/>
              </a:rPr>
              <a:t>Ages 10+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4983480" cy="10972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HTML, CSS &amp; JavaScript: building and styling real, working websites. 153 free practice lessons online.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73152" cy="1920240"/>
          </a:xfrm>
          <a:prstGeom prst="rect">
            <a:avLst/>
          </a:prstGeom>
          <a:solidFill>
            <a:srgbClr val="1F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60520"/>
            <a:ext cx="4983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Python Programming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4599431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1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608575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F7A5C"/>
                </a:solidFill>
                <a:latin typeface="Calibri"/>
              </a:rPr>
              <a:t>Ages 10+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983479"/>
            <a:ext cx="49834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Core programming concepts and Python syntax for real applications. 45 free practice lessons online.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77639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114800"/>
            <a:ext cx="73152" cy="1920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60520"/>
            <a:ext cx="4983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F1B33"/>
                </a:solidFill>
                <a:latin typeface="Calibri"/>
              </a:rPr>
              <a:t>Robotics (Micro:bit)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599431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608575"/>
            <a:ext cx="11887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  <a:latin typeface="Calibri"/>
              </a:rPr>
              <a:t>Ages 8–14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83479"/>
            <a:ext cx="49834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Robotics fundamentals with MakeCode block programming and a Starter Kit. 123 free micro:bit projects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FULL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More Courses We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920240"/>
          </a:xfrm>
          <a:prstGeom prst="rect">
            <a:avLst/>
          </a:prstGeom>
          <a:solidFill>
            <a:srgbClr val="6D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1B33"/>
                </a:solidFill>
                <a:latin typeface="Calibri"/>
              </a:rPr>
              <a:t>Mobile App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21992"/>
            <a:ext cx="3154680" cy="14813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App Inventor (ages 10+): build real Android apps. Android Studio with Kotlin (ages 12+): 72 free lessons online.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737360"/>
            <a:ext cx="73152" cy="19202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783080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1B33"/>
                </a:solidFill>
                <a:latin typeface="Calibri"/>
              </a:rPr>
              <a:t>Digital &amp; Productivity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221992"/>
            <a:ext cx="3154680" cy="14813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Microsoft Word, Excel, PowerPoint and Office essentials. Any 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737360"/>
            <a:ext cx="73152" cy="1920240"/>
          </a:xfrm>
          <a:prstGeom prst="rect">
            <a:avLst/>
          </a:prstGeom>
          <a:solidFill>
            <a:srgbClr val="1F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1546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1B33"/>
                </a:solidFill>
                <a:latin typeface="Calibri"/>
              </a:rPr>
              <a:t>More Programming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21992"/>
            <a:ext cx="3154679" cy="14813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Java Programming and C / C++ Programming (ages 13+).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73152" cy="1920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60520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1B33"/>
                </a:solidFill>
                <a:latin typeface="Calibri"/>
              </a:rPr>
              <a:t>More Robotics &amp;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599431"/>
            <a:ext cx="3154680" cy="1481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Arduino Robotics (ages 13+) and Practical Robotics with the Freenove kit (ages 10+): 44 free projects online.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977639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4114800"/>
            <a:ext cx="73152" cy="1920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1999" y="4160520"/>
            <a:ext cx="3154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1B33"/>
                </a:solidFill>
                <a:latin typeface="Calibri"/>
              </a:rPr>
              <a:t>Emerging Technology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599431"/>
            <a:ext cx="3154680" cy="1481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AI &amp; Machine Learning Foundations (ages 13+).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977639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4114800"/>
            <a:ext cx="73152" cy="1920240"/>
          </a:xfrm>
          <a:prstGeom prst="rect">
            <a:avLst/>
          </a:prstGeom>
          <a:solidFill>
            <a:srgbClr val="0F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60520"/>
            <a:ext cx="31546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F1B33"/>
                </a:solidFill>
                <a:latin typeface="Calibri"/>
              </a:rPr>
              <a:t>Don't See Your Track?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99431"/>
            <a:ext cx="3154679" cy="14813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Ask us. We tailor custom courses for schools, organisations and individuals too.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Class Format &amp; What's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64208"/>
            <a:ext cx="493776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2457E6"/>
                </a:solidFill>
                <a:latin typeface="Calibri"/>
              </a:rPr>
              <a:t>ONLINE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49377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B33"/>
                </a:solidFill>
                <a:latin typeface="Calibri"/>
              </a:rPr>
              <a:t>Live, instructor-led virtual sessions, from anywhere with an internet connection.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00400"/>
            <a:ext cx="493776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•  A laptop running at least Windows 10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475569"/>
                </a:solidFill>
                <a:latin typeface="Calibri"/>
              </a:rPr>
              <a:t>•  Stable internet access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475569"/>
                </a:solidFill>
                <a:latin typeface="Calibri"/>
              </a:rPr>
              <a:t>•  A micro:bit Starter Kit for the Robotics track. Order early; learners can start on the free simulator meanwhile.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1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8"/>
            <a:ext cx="493776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1F7A5C"/>
                </a:solidFill>
                <a:latin typeface="Calibri"/>
              </a:rPr>
              <a:t>ONSITE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49377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0F1B33"/>
                </a:solidFill>
                <a:latin typeface="Calibri"/>
              </a:rPr>
              <a:t>In-person, hands-on sessions at any location you choose, nationwide.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493776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•  A laptop running at least Windows 10 (per learner)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475569"/>
                </a:solidFill>
                <a:latin typeface="Calibri"/>
              </a:rPr>
              <a:t>•  A micro:bit Starter Kit for the Robotics track, provided or sourced for you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475569"/>
                </a:solidFill>
                <a:latin typeface="Calibri"/>
              </a:rPr>
              <a:t>•  Pricing discussed individually, based on location and logistics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7142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Certificate of proficiency on completion. Schools that cannot supply enough laptops can ask us about laptop provision for the duration of the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Simple, Transparent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40680" cy="283464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ONLINE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463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0F1B33"/>
                </a:solidFill>
                <a:latin typeface="Calibri"/>
              </a:rPr>
              <a:t>₦100,000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48463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per learner, per 20-hour session 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440680" cy="283464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7A5C"/>
                </a:solidFill>
                <a:latin typeface="Calibri"/>
              </a:rPr>
              <a:t>ONSITE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8463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0F1B33"/>
                </a:solidFill>
                <a:latin typeface="Calibri"/>
              </a:rPr>
              <a:t>Custom quote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48463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Base fee plus location and logistics costs, agreed with each client individually.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888"/>
            </a:avLst>
          </a:prstGeom>
          <a:solidFill>
            <a:srgbClr val="FE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B45309"/>
                </a:solidFill>
                <a:latin typeface="Calibri"/>
              </a:rPr>
              <a:t>Onsite note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We deliver onsite training to any location, priced on the same ₦100,000 / 20-hour base, plus transportation, venue and equipment costs specific to your location, confirmed before class begins.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SAVE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Family &amp; Group Discounts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3716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We reward families and groups who learn together. The discounts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09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937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30%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Joint / Family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493776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Register 2 or more students on the same learning track through the same parent or guardian: 30% off every additional student. Applies to online and onsite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440680" cy="3017520"/>
          </a:xfrm>
          <a:prstGeom prst="roundRect">
            <a:avLst>
              <a:gd name="adj" fmla="val 3636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937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+10%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Group Bookings: 10+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83280"/>
            <a:ext cx="493776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When a parent, school or community gathers 10 or more students in one location for the same track, every student gets an extra 10% off, stacked on the 30% family discount for a combined 40% 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6636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93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UP TO 40% OFF PER STUDENT  ·  GROUPS OF 10+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Refer a school, family or organisation: when a client you refer enrols, you receive 10% commission on the total cost of their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Worked Pricing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611880" cy="868680"/>
          </a:xfrm>
          <a:prstGeom prst="roundRect">
            <a:avLst>
              <a:gd name="adj" fmla="val 12631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457E6"/>
                </a:solidFill>
                <a:latin typeface="Calibri"/>
              </a:rPr>
              <a:t>1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online, Robotics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200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B33"/>
                </a:solidFill>
                <a:latin typeface="Calibri"/>
              </a:rPr>
              <a:t>₦100,000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3200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₦100,000 for one 20-hour block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459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1645920"/>
            <a:ext cx="3611880" cy="868680"/>
          </a:xfrm>
          <a:prstGeom prst="roundRect">
            <a:avLst>
              <a:gd name="adj" fmla="val 12631"/>
            </a:avLst>
          </a:prstGeom>
          <a:solidFill>
            <a:srgbClr val="E1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691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F7A5C"/>
                </a:solidFill>
                <a:latin typeface="Calibri"/>
              </a:rPr>
              <a:t>2 siblings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12140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same track, same 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743200"/>
            <a:ext cx="3200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B33"/>
                </a:solidFill>
                <a:latin typeface="Calibri"/>
              </a:rPr>
              <a:t>₦170,000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703320"/>
            <a:ext cx="3200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₦100,000 + ₦70,000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475569"/>
                </a:solidFill>
                <a:latin typeface="Calibri"/>
              </a:rPr>
              <a:t>(30% off the 2nd child)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459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19" y="1645920"/>
            <a:ext cx="3611880" cy="868680"/>
          </a:xfrm>
          <a:prstGeom prst="roundRect">
            <a:avLst>
              <a:gd name="adj" fmla="val 12631"/>
            </a:avLst>
          </a:prstGeom>
          <a:solidFill>
            <a:srgbClr val="FE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691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B45309"/>
                </a:solidFill>
                <a:latin typeface="Calibri"/>
              </a:rPr>
              <a:t>Group of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121408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one location, same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743200"/>
            <a:ext cx="3200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B33"/>
                </a:solidFill>
                <a:latin typeface="Calibri"/>
              </a:rPr>
              <a:t>₦750,000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703320"/>
            <a:ext cx="3200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₦90,000 + (11 × ₦60,000)</a:t>
            </a:r>
          </a:p>
          <a:p>
            <a:pPr algn="l">
              <a:spcBef>
                <a:spcPts val="500"/>
              </a:spcBef>
            </a:pPr>
            <a:r>
              <a:rPr sz="1500" b="0" i="0">
                <a:solidFill>
                  <a:srgbClr val="475569"/>
                </a:solidFill>
                <a:latin typeface="Calibri"/>
              </a:rPr>
              <a:t>(10% off the first, 40% off the rest)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475569"/>
                </a:solidFill>
                <a:latin typeface="Calibri"/>
              </a:rPr>
              <a:t>Figures above are illustrative; your final quote is confirmed at registration.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How to Enrol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3716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There is no formal application, just a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11 / 13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731520" cy="731520"/>
          </a:xfrm>
          <a:prstGeom prst="ellipse">
            <a:avLst/>
          </a:prstGeom>
          <a:solidFill>
            <a:srgbClr val="24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606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F1B33"/>
                </a:solidFill>
                <a:latin typeface="Calibri"/>
              </a:rPr>
              <a:t>Contact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25603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WhatsApp, call, email or the form on our website.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441448"/>
            <a:ext cx="1737360" cy="45720"/>
          </a:xfrm>
          <a:prstGeom prst="rect">
            <a:avLst/>
          </a:prstGeom>
          <a:solidFill>
            <a:srgbClr val="D7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2103120"/>
            <a:ext cx="731520" cy="731520"/>
          </a:xfrm>
          <a:prstGeom prst="ellipse">
            <a:avLst/>
          </a:prstGeom>
          <a:solidFill>
            <a:srgbClr val="24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017520"/>
            <a:ext cx="2606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F1B33"/>
                </a:solidFill>
                <a:latin typeface="Calibri"/>
              </a:rPr>
              <a:t>Tell us your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66160"/>
            <a:ext cx="25603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Preferred course(s), online or onsite, learner age(s) and how many students together.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441448"/>
            <a:ext cx="1737360" cy="45720"/>
          </a:xfrm>
          <a:prstGeom prst="rect">
            <a:avLst/>
          </a:prstGeom>
          <a:solidFill>
            <a:srgbClr val="D7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19" y="2103120"/>
            <a:ext cx="731520" cy="731520"/>
          </a:xfrm>
          <a:prstGeom prst="ellipse">
            <a:avLst/>
          </a:prstGeom>
          <a:solidFill>
            <a:srgbClr val="24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3017520"/>
            <a:ext cx="2606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F1B33"/>
                </a:solidFill>
                <a:latin typeface="Calibri"/>
              </a:rPr>
              <a:t>Get your 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566160"/>
            <a:ext cx="25603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Confirmed price with any discount, plus a suitable schedule.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2441448"/>
            <a:ext cx="1737360" cy="45720"/>
          </a:xfrm>
          <a:prstGeom prst="rect">
            <a:avLst/>
          </a:prstGeom>
          <a:solidFill>
            <a:srgbClr val="D7D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06839" y="2103120"/>
            <a:ext cx="731520" cy="731520"/>
          </a:xfrm>
          <a:prstGeom prst="ellipse">
            <a:avLst/>
          </a:prstGeom>
          <a:solidFill>
            <a:srgbClr val="24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399" y="3017520"/>
            <a:ext cx="2606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F1B33"/>
                </a:solidFill>
                <a:latin typeface="Calibri"/>
              </a:rPr>
              <a:t>Start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3566160"/>
            <a:ext cx="256032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Get set up and begin, with a certificate of proficiency at the 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1051560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F1B33"/>
                </a:solidFill>
                <a:latin typeface="Calibri"/>
              </a:rPr>
              <a:t>Office hours: 8AM to 5PM, Monday to Friday  ·  Moniya, Ibadan, Oyo State, Nigeria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256032" cy="91440"/>
          </a:xfrm>
          <a:prstGeom prst="rect">
            <a:avLst/>
          </a:prstGeom>
          <a:solidFill>
            <a:srgbClr val="245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84048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457E6"/>
                </a:solidFill>
                <a:latin typeface="Calibri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713232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F1B33"/>
                </a:solidFill>
                <a:latin typeface="Calibri"/>
              </a:rPr>
              <a:t>Connect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7665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36776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36776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wa.me/2348126909498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2848"/>
            <a:ext cx="67665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9424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Call /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9424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+234 812 690 9498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25496"/>
            <a:ext cx="67665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62072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62072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techbasengr@gmail.com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38144"/>
            <a:ext cx="67665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474720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techbasengr.com.ng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50791"/>
            <a:ext cx="67665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Free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087368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techbaseng.github.io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67665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0016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700016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Moniya, Ibadan, Oyo State, Nigeria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76088"/>
            <a:ext cx="676656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12664"/>
            <a:ext cx="1737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457E6"/>
                </a:solidFill>
                <a:latin typeface="Calibri"/>
              </a:rPr>
              <a:t>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312664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F1B33"/>
                </a:solidFill>
                <a:latin typeface="Calibri"/>
              </a:rPr>
              <a:t>8AM to 5PM, Monday to Friday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1600200"/>
            <a:ext cx="3931920" cy="4206240"/>
          </a:xfrm>
          <a:prstGeom prst="roundRect">
            <a:avLst>
              <a:gd name="adj" fmla="val 279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737360"/>
            <a:ext cx="3566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457E6"/>
                </a:solidFill>
                <a:latin typeface="Calibri"/>
              </a:rPr>
              <a:t>FOLLOW 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194560"/>
            <a:ext cx="3566160" cy="3474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0F1B33"/>
                </a:solidFill>
                <a:latin typeface="Calibri"/>
              </a:rPr>
              <a:t>LinkedIn: Techbase Consultant Services</a:t>
            </a:r>
          </a:p>
          <a:p>
            <a:pPr algn="ctr">
              <a:spcBef>
                <a:spcPts val="500"/>
              </a:spcBef>
            </a:pPr>
            <a:r>
              <a:rPr sz="1400" b="0" i="0">
                <a:solidFill>
                  <a:srgbClr val="0F1B33"/>
                </a:solidFill>
                <a:latin typeface="Calibri"/>
              </a:rPr>
              <a:t>Facebook: @techbasengr</a:t>
            </a:r>
          </a:p>
          <a:p>
            <a:pPr algn="ctr">
              <a:spcBef>
                <a:spcPts val="500"/>
              </a:spcBef>
            </a:pPr>
            <a:r>
              <a:rPr sz="1400" b="0" i="0">
                <a:solidFill>
                  <a:srgbClr val="0F1B33"/>
                </a:solidFill>
                <a:latin typeface="Calibri"/>
              </a:rPr>
              <a:t>Instagram: @techbasengr</a:t>
            </a:r>
          </a:p>
          <a:p>
            <a:pPr algn="ctr">
              <a:spcBef>
                <a:spcPts val="500"/>
              </a:spcBef>
            </a:pPr>
            <a:r>
              <a:rPr sz="1400" b="0" i="0">
                <a:solidFill>
                  <a:srgbClr val="0F1B33"/>
                </a:solidFill>
                <a:latin typeface="Calibri"/>
              </a:rPr>
              <a:t>X (Twitter): @techbasengr</a:t>
            </a:r>
          </a:p>
          <a:p>
            <a:pPr algn="ctr">
              <a:spcBef>
                <a:spcPts val="500"/>
              </a:spcBef>
            </a:pPr>
            <a:r>
              <a:rPr sz="1400" b="0" i="0">
                <a:solidFill>
                  <a:srgbClr val="0F1B33"/>
                </a:solidFill>
                <a:latin typeface="Calibri"/>
              </a:rPr>
              <a:t>YouTube: @techbasengr</a:t>
            </a:r>
          </a:p>
          <a:p>
            <a:pPr algn="ctr">
              <a:spcBef>
                <a:spcPts val="500"/>
              </a:spcBef>
            </a:pPr>
            <a:r>
              <a:rPr sz="1400" b="0" i="0">
                <a:solidFill>
                  <a:srgbClr val="0F1B33"/>
                </a:solidFill>
                <a:latin typeface="Calibri"/>
              </a:rPr>
              <a:t/>
            </a:r>
          </a:p>
          <a:p>
            <a:pPr algn="ctr">
              <a:spcBef>
                <a:spcPts val="500"/>
              </a:spcBef>
            </a:pPr>
            <a:r>
              <a:rPr sz="1400" b="0" i="0">
                <a:solidFill>
                  <a:srgbClr val="0F1B33"/>
                </a:solidFill>
                <a:latin typeface="Calibri"/>
              </a:rPr>
              <a:t>Same handle on all platforms:</a:t>
            </a:r>
          </a:p>
          <a:p>
            <a:pPr algn="ctr">
              <a:spcBef>
                <a:spcPts val="500"/>
              </a:spcBef>
            </a:pPr>
            <a:r>
              <a:rPr sz="1400" b="0" i="0">
                <a:solidFill>
                  <a:srgbClr val="0F1B33"/>
                </a:solidFill>
                <a:latin typeface="Calibri"/>
              </a:rPr>
              <a:t>@techbasengr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Techbase Consultant Services  ·  techbasengr@gmail.com  ·  +234 812 690 9498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13 / 13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237744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0" y="1097280"/>
            <a:ext cx="76809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1B33"/>
                </a:solidFill>
                <a:latin typeface="Calibri"/>
              </a:rPr>
              <a:t>Ready to Get Started?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103120"/>
            <a:ext cx="749807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Give your child a real head-start in coding, robotics and digital skills, wherever you are. Ages 8 to adult.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291840"/>
            <a:ext cx="7315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457E6"/>
                </a:solidFill>
                <a:latin typeface="Calibri"/>
              </a:rPr>
              <a:t>WhatsApp: +234 812 690 9498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840480"/>
            <a:ext cx="7315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457E6"/>
                </a:solidFill>
                <a:latin typeface="Calibri"/>
              </a:rPr>
              <a:t>techbasengr.com.ng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389120"/>
            <a:ext cx="7315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457E6"/>
                </a:solidFill>
                <a:latin typeface="Calibri"/>
              </a:rPr>
              <a:t>techbasengr@gmail.com</a:t>
            </a:r>
          </a:p>
        </p:txBody>
      </p:sp>
      <p:pic>
        <p:nvPicPr>
          <p:cNvPr id="10" name="Picture 9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0"/>
            <a:ext cx="1828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09760" y="507492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Scan to chat on WhatsApp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9496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422392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457E6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Courses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539496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5422392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457E6"/>
                </a:solidFill>
                <a:latin typeface="Calibri"/>
              </a:rPr>
              <a:t>Ages 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8521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To adult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394960"/>
            <a:ext cx="2651760" cy="822960"/>
          </a:xfrm>
          <a:prstGeom prst="roundRect">
            <a:avLst>
              <a:gd name="adj" fmla="val 13333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422392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457E6"/>
                </a:solidFill>
                <a:latin typeface="Calibri"/>
              </a:rPr>
              <a:t>Online &amp; onsite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85216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Nationwide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Techbase Training Proposal</dc:title>
  <dc:subject/>
  <dc:creator>Techbase Consultant Services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